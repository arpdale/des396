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Raleway"/>
      <p:regular r:id="rId35"/>
      <p:bold r:id="rId36"/>
      <p:italic r:id="rId37"/>
      <p:boldItalic r:id="rId38"/>
    </p:embeddedFont>
    <p:embeddedFont>
      <p:font typeface="Roboto"/>
      <p:regular r:id="rId39"/>
      <p:bold r:id="rId40"/>
      <p:italic r:id="rId41"/>
      <p:boldItalic r:id="rId42"/>
    </p:embeddedFont>
    <p:embeddedFont>
      <p:font typeface="Lato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BB0463-651C-4C17-9E3C-C948947C6DE0}">
  <a:tblStyle styleId="{61BB0463-651C-4C17-9E3C-C948947C6DE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DE7CF8B-2D87-43A8-876A-01B18470B408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oboto-bold.fntdata"/><Relationship Id="rId20" Type="http://schemas.openxmlformats.org/officeDocument/2006/relationships/slide" Target="slides/slide14.xml"/><Relationship Id="rId42" Type="http://schemas.openxmlformats.org/officeDocument/2006/relationships/font" Target="fonts/Roboto-boldItalic.fntdata"/><Relationship Id="rId41" Type="http://schemas.openxmlformats.org/officeDocument/2006/relationships/font" Target="fonts/Roboto-italic.fntdata"/><Relationship Id="rId22" Type="http://schemas.openxmlformats.org/officeDocument/2006/relationships/slide" Target="slides/slide16.xml"/><Relationship Id="rId44" Type="http://schemas.openxmlformats.org/officeDocument/2006/relationships/font" Target="fonts/Lato-bold.fntdata"/><Relationship Id="rId21" Type="http://schemas.openxmlformats.org/officeDocument/2006/relationships/slide" Target="slides/slide15.xml"/><Relationship Id="rId43" Type="http://schemas.openxmlformats.org/officeDocument/2006/relationships/font" Target="fonts/Lato-regular.fntdata"/><Relationship Id="rId24" Type="http://schemas.openxmlformats.org/officeDocument/2006/relationships/slide" Target="slides/slide18.xml"/><Relationship Id="rId46" Type="http://schemas.openxmlformats.org/officeDocument/2006/relationships/font" Target="fonts/Lato-boldItalic.fntdata"/><Relationship Id="rId23" Type="http://schemas.openxmlformats.org/officeDocument/2006/relationships/slide" Target="slides/slide17.xml"/><Relationship Id="rId45" Type="http://schemas.openxmlformats.org/officeDocument/2006/relationships/font" Target="fonts/Lat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aleway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aleway-italic.fntdata"/><Relationship Id="rId14" Type="http://schemas.openxmlformats.org/officeDocument/2006/relationships/slide" Target="slides/slide8.xml"/><Relationship Id="rId36" Type="http://schemas.openxmlformats.org/officeDocument/2006/relationships/font" Target="fonts/Raleway-bold.fntdata"/><Relationship Id="rId17" Type="http://schemas.openxmlformats.org/officeDocument/2006/relationships/slide" Target="slides/slide11.xml"/><Relationship Id="rId39" Type="http://schemas.openxmlformats.org/officeDocument/2006/relationships/font" Target="fonts/Roboto-regular.fntdata"/><Relationship Id="rId16" Type="http://schemas.openxmlformats.org/officeDocument/2006/relationships/slide" Target="slides/slide10.xml"/><Relationship Id="rId38" Type="http://schemas.openxmlformats.org/officeDocument/2006/relationships/font" Target="fonts/Raleway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ealthjournalism.org/blog/2024/08/in-the-u-s-wait-times-to-see-a-doctor-can-be-agonizingly-long/?utm_source=chatgpt.com" TargetMode="External"/><Relationship Id="rId3" Type="http://schemas.openxmlformats.org/officeDocument/2006/relationships/hyperlink" Target="https://www.axios.com/2024/09/03/health-shrinkflation-patients-wait-more-for-less?utm_source=chatgpt.com" TargetMode="External"/><Relationship Id="rId4" Type="http://schemas.openxmlformats.org/officeDocument/2006/relationships/hyperlink" Target="https://www.aanp.org/news-feed/two-in-five-americans-report-unreasonable-health-care-wait-times?utm_source=chatgpt.com" TargetMode="Externa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healthsystemtracker.org/indicator/access-affordability/delay-needed-care/?utm_source=chatgpt.com#Percent%20of%20adults%20who%20reported%20delaying%20or%20going%20without%20medical%20care%20due%20to%20COVID-19,%202021" TargetMode="External"/><Relationship Id="rId3" Type="http://schemas.openxmlformats.org/officeDocument/2006/relationships/hyperlink" Target="https://www.kff.org/health-costs/issue-brief/americans-challenges-with-health-care-costs/?utm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benefitspro.com/2024/06/13/cms-u-s-employers-to-spend-1-3t-on-health-benefits-this-year/?utm" TargetMode="External"/><Relationship Id="rId3" Type="http://schemas.openxmlformats.org/officeDocument/2006/relationships/hyperlink" Target="https://www.kff.org/report-section/ehbs-2023-summary-of-findings/" TargetMode="External"/><Relationship Id="rId4" Type="http://schemas.openxmlformats.org/officeDocument/2006/relationships/hyperlink" Target="https://www.axios.com/2023/08/30/employer-health-costs-quality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cc7079914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cc7079914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4ddb245c0d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4ddb245c0d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You work in one of these three industries: manufacturing, logistics, or public service.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What comes to mind? For those outside these sectors, it may be hard to imagine the day-to-day realities.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Manufacturing often demands intense physical labor. Logistics can mean long, unpredictable hours. </a:t>
            </a:r>
            <a:endParaRPr sz="10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And while public service may offer a better work-life balance, compensation tends to be lower.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cc707991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cc707991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Despite their differences, these industries share a troubling commonality: high rates of burnout and increasing barriers to accessing timely, affordable primary care.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4cc7079914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4cc7079914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38 days — average wait time for a primary care appointment in the U.S., exceeding the industry benchmark of 14 days.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17% of patients wait 1–3 months for a doctor's appointment.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 40% of Americans report experiencing "longer than reasonable" wait times for healthcare.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https://healthjournalism.org/blog/2024/08/in-the-u-s-wait-times-to-see-a-doctor-can-be-agonizingly-long/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https://www.axios.com/2024/09/03/health-shrinkflation-patients-wait-more-for-less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https://www.aanp.org/news-feed/two-in-five-americans-report-unreasonable-health-care-wait-times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4cc7079914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4cc7079914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21.7% of adults delayed or did not receive medical care in the past year due to nonfinancial access barriers, such as being too busy or unable to get to a provider when open.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28% of adults delayed or did not get health or dental care due to cost.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61% of uninsured adults have skipped or postponed needed healthcare due to cost.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https://www.healthsystemtracker.org/indicator/access-affordability/delay-needed-care/?utm_source=chatgpt.com#Percent%20of%20adults%20who%20reported%20delaying%20or%20going%20without%20medical%20care%20due%20to%20COVID-19,%202021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https://www.kff.org/health-costs/issue-brief/americans-challenges-with-health-care-costs/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4cc707991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4cc707991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U.S. employers are projected to spend $1.3 trillion on health benefits in 2024.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average annual premium for employer-sponsored health insurance in 2023 is $8,435 for single coverage and $23,968 for family coverage.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Despite this investment, many employers lack insight into the quality of care purchased, leading to potential overspending on low-quality healthcare services.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https://www.benefitspro.com/2024/06/13/cms-u-s-employers-to-spend-1-3t-on-health-benefits-this-year/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https://www.kff.org/report-section/ehbs-2023-summary-of-findings/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https://www.axios.com/2023/08/30/employer-health-costs-quality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cc7079914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4cc7079914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4f6b17c896_0_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4f6b17c896_0_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COVID-19 pandemic highlighted something: workers in manufacturing, logistics, and public service are the backbone of our society. While the world paused, they kept supply chains running, maintained public safety, and upheld critical infrastructure.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even as AI reshapes these industries, these roles remain deeply human. They involve real-world complexity, decision-making, and care—things automation can support, but not replace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4cc7079914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4cc7079914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ThriveClinic brings Direct Primary Care (DPC) into workplaces through modular clinics and onsite care teams.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will provide: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Unlimited access to primary care, wellness coaching, and virtual visits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insurance, no co-pays, no barriers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Transparent pricing for employers, with real-time ROI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4f6b17c896_0_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4f6b17c896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ThriveClinic brings Direct Primary Care (DPC) into workplaces through modular clinics for and onsite care teams.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will provide: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Unlimited access to primary care, wellness coaching, and virtual visits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 insurance, no co-pays, no barriers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Transparent pricing for employers, with real-time ROI tracking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4cc7079914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4cc7079914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f6b17c896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4f6b17c896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predictable, cost-effective healthcare solution that improves workforce health, reduces absenteeism, and delivers measurable ROI.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Tailored specifically to the needs of essential industries like manufacturing, logistics, and public service.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Fast, reliable access to high-quality primary care—on-site, near-site, or virtual—without the wait times or financial barriers typical of traditional healthcare.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Services are aligned with work demands and shift schedules, ensuring care is convenient, relevant, and impactful.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4cc707991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4cc707991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Medical: New business initiative through amazon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 Over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ForwardHealth: startup that shut 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Urgent Care clinic as comp?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4cc7079914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4cc7079914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Year 1: 5 contracts → $1.2M revenue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Year 2: 50 contracts → $6.5M revenue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Year 5: 25 million</a:t>
            </a:r>
            <a:endParaRPr sz="16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4cc7079914_0_1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4cc7079914_0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Category</a:t>
            </a:r>
            <a:endParaRPr b="1"/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Estimated Annual Cost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Clinician Salary (NP or PA)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$100,000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Medical Assistant / Admin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$65,000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Virtual MD Pool (part-time coverage)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$15,000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Software &amp; Platform Subscriptions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$10,000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Supplies, Labs, Equipment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$10,000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Rent + Utilities (modular or small site)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$30,000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Marketing &amp; Employer Education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$5,000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Insurance &amp; Legal / Liability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$5,000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Total Annual Operating Costs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$240,000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4f6b17c896_1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4f6b17c896_1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4f6fc713c2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4f6fc713c2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4f6fc713c2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4f6fc713c2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cc707991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4cc707991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 a month add on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4cc7079914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4cc7079914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4cc7079914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4cc7079914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4cc7079914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4cc7079914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4cc7079914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4cc7079914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4cc7079914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4cc7079914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4ddb245c0d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4ddb245c0d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4cc7079914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4cc7079914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4cc7079914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4cc7079914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18.jp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0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Relationship Id="rId4" Type="http://schemas.openxmlformats.org/officeDocument/2006/relationships/image" Target="../media/image12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4571999" y="3172900"/>
            <a:ext cx="38460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770"/>
              <a:buNone/>
            </a:pPr>
            <a:r>
              <a:rPr lang="en" sz="1200">
                <a:solidFill>
                  <a:schemeClr val="dk1"/>
                </a:solidFill>
              </a:rPr>
              <a:t>Presented by Sabrina Highfield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MA in Design | University of Texas at Austin</a:t>
            </a:r>
            <a:endParaRPr sz="1200"/>
          </a:p>
        </p:txBody>
      </p:sp>
      <p:pic>
        <p:nvPicPr>
          <p:cNvPr id="87" name="Google Shape;87;p13" title="ChatGPT Image Apr 21, 2025, 10_28_47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00" y="-58975"/>
            <a:ext cx="4267200" cy="42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 | Vision | Beliefs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91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Deliver affordable, accessible, and human-centered primary care to America's workforce.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 future where healthcare happens where people live and work—not where insurers dictate.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Beliefs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Everyone deserves timely, dignity-centered care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Prevention is the most powerful medicine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Healthier employees build healthier organizations</a:t>
            </a:r>
            <a:endParaRPr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/>
          <p:nvPr>
            <p:ph type="title"/>
          </p:nvPr>
        </p:nvSpPr>
        <p:spPr>
          <a:xfrm>
            <a:off x="603675" y="597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Imagine..</a:t>
            </a:r>
            <a:endParaRPr/>
          </a:p>
        </p:txBody>
      </p:sp>
      <p:sp>
        <p:nvSpPr>
          <p:cNvPr id="99" name="Google Shape;99;p15"/>
          <p:cNvSpPr txBox="1"/>
          <p:nvPr>
            <p:ph idx="1" type="body"/>
          </p:nvPr>
        </p:nvSpPr>
        <p:spPr>
          <a:xfrm>
            <a:off x="727650" y="1443263"/>
            <a:ext cx="7688700" cy="4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>
                <a:solidFill>
                  <a:schemeClr val="dk2"/>
                </a:solidFill>
              </a:rPr>
              <a:t>You’re working in one of these industries:</a:t>
            </a:r>
            <a:endParaRPr sz="1400">
              <a:solidFill>
                <a:schemeClr val="dk2"/>
              </a:solidFill>
            </a:endParaRPr>
          </a:p>
        </p:txBody>
      </p:sp>
      <p:pic>
        <p:nvPicPr>
          <p:cNvPr descr="Construction workers working on construction site (Provided by Getty Images)" id="100" name="Google Shape;10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27544" y="2247025"/>
            <a:ext cx="1925700" cy="1700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Teacher helping student (Provided by Getty Images)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16289" t="0"/>
          <a:stretch/>
        </p:blipFill>
        <p:spPr>
          <a:xfrm>
            <a:off x="6041751" y="2247025"/>
            <a:ext cx="1925700" cy="1700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erial top view containers ship cargo business commercial trade logistic and transportation of international import export by container freight cargo ship in the open seaport. (Provided by Getty Images)" id="102" name="Google Shape;10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4650" y="2247025"/>
            <a:ext cx="1925700" cy="1700700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" name="Google Shape;103;p15"/>
          <p:cNvSpPr txBox="1"/>
          <p:nvPr/>
        </p:nvSpPr>
        <p:spPr>
          <a:xfrm>
            <a:off x="1687494" y="4066650"/>
            <a:ext cx="14058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Manufacturing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079800" y="4066651"/>
            <a:ext cx="12354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Logistics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6386901" y="4066651"/>
            <a:ext cx="1235400" cy="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Public Service</a:t>
            </a:r>
            <a:endParaRPr b="1"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6"/>
          <p:cNvSpPr txBox="1"/>
          <p:nvPr>
            <p:ph type="title"/>
          </p:nvPr>
        </p:nvSpPr>
        <p:spPr>
          <a:xfrm>
            <a:off x="727650" y="610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111" name="Google Shape;111;p16"/>
          <p:cNvSpPr txBox="1"/>
          <p:nvPr>
            <p:ph idx="1" type="body"/>
          </p:nvPr>
        </p:nvSpPr>
        <p:spPr>
          <a:xfrm>
            <a:off x="5293125" y="2244775"/>
            <a:ext cx="2908200" cy="15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</a:rPr>
              <a:t>Access Delays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</a:rPr>
              <a:t>Care Avoidance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400">
                <a:solidFill>
                  <a:srgbClr val="000000"/>
                </a:solidFill>
              </a:rPr>
              <a:t>Employer Burden</a:t>
            </a:r>
            <a:endParaRPr sz="1400">
              <a:solidFill>
                <a:srgbClr val="000000"/>
              </a:solidFill>
            </a:endParaRPr>
          </a:p>
        </p:txBody>
      </p:sp>
      <p:pic>
        <p:nvPicPr>
          <p:cNvPr descr="Balancing supply and demand in market inventory commerce analysis between production and shopping selling consumer (Provided by Getty Images)" id="112" name="Google Shape;11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932475"/>
            <a:ext cx="4267203" cy="2133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90900" y="1501650"/>
            <a:ext cx="6479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urnout and increasing barriers to accessing timely, affordable primary care.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 txBox="1"/>
          <p:nvPr>
            <p:ph type="title"/>
          </p:nvPr>
        </p:nvSpPr>
        <p:spPr>
          <a:xfrm>
            <a:off x="727650" y="5838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- Access Delays</a:t>
            </a:r>
            <a:endParaRPr/>
          </a:p>
        </p:txBody>
      </p:sp>
      <p:sp>
        <p:nvSpPr>
          <p:cNvPr id="119" name="Google Shape;119;p17"/>
          <p:cNvSpPr txBox="1"/>
          <p:nvPr/>
        </p:nvSpPr>
        <p:spPr>
          <a:xfrm>
            <a:off x="5535550" y="2070400"/>
            <a:ext cx="3112500" cy="22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38 days average wait time 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</a:pPr>
            <a:r>
              <a:rPr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40% of Americans say wait times are ‘longer than reasonable’</a:t>
            </a:r>
            <a:endParaRPr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20" name="Google Shape;120;p17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963" y="1632175"/>
            <a:ext cx="5073741" cy="31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27650" y="597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- Care Avoidance</a:t>
            </a:r>
            <a:endParaRPr/>
          </a:p>
        </p:txBody>
      </p:sp>
      <p:grpSp>
        <p:nvGrpSpPr>
          <p:cNvPr id="126" name="Google Shape;126;p18"/>
          <p:cNvGrpSpPr/>
          <p:nvPr/>
        </p:nvGrpSpPr>
        <p:grpSpPr>
          <a:xfrm>
            <a:off x="2903038" y="1356457"/>
            <a:ext cx="3339000" cy="3339000"/>
            <a:chOff x="2902488" y="902232"/>
            <a:chExt cx="3339000" cy="3339000"/>
          </a:xfrm>
        </p:grpSpPr>
        <p:sp>
          <p:nvSpPr>
            <p:cNvPr id="127" name="Google Shape;127;p18"/>
            <p:cNvSpPr/>
            <p:nvPr/>
          </p:nvSpPr>
          <p:spPr>
            <a:xfrm rot="-5400000">
              <a:off x="2902488" y="902232"/>
              <a:ext cx="3339000" cy="3339000"/>
            </a:xfrm>
            <a:prstGeom prst="ellipse">
              <a:avLst/>
            </a:prstGeom>
            <a:noFill/>
            <a:ln cap="flat" cmpd="sng" w="19050">
              <a:solidFill>
                <a:srgbClr val="1D7E7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18"/>
            <p:cNvSpPr/>
            <p:nvPr/>
          </p:nvSpPr>
          <p:spPr>
            <a:xfrm>
              <a:off x="3123875" y="1123625"/>
              <a:ext cx="2896500" cy="2896200"/>
            </a:xfrm>
            <a:prstGeom prst="pie">
              <a:avLst>
                <a:gd fmla="val 2689583" name="adj1"/>
                <a:gd fmla="val 13510993" name="adj2"/>
              </a:avLst>
            </a:prstGeom>
            <a:solidFill>
              <a:srgbClr val="83E3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" name="Google Shape;129;p18"/>
          <p:cNvGrpSpPr/>
          <p:nvPr/>
        </p:nvGrpSpPr>
        <p:grpSpPr>
          <a:xfrm>
            <a:off x="3664588" y="2118007"/>
            <a:ext cx="1815900" cy="1815900"/>
            <a:chOff x="3664038" y="1663782"/>
            <a:chExt cx="1815900" cy="1815900"/>
          </a:xfrm>
        </p:grpSpPr>
        <p:sp>
          <p:nvSpPr>
            <p:cNvPr id="130" name="Google Shape;130;p18"/>
            <p:cNvSpPr/>
            <p:nvPr/>
          </p:nvSpPr>
          <p:spPr>
            <a:xfrm>
              <a:off x="3664038" y="1663782"/>
              <a:ext cx="1815900" cy="1815900"/>
            </a:xfrm>
            <a:prstGeom prst="ellipse">
              <a:avLst/>
            </a:prstGeom>
            <a:solidFill>
              <a:srgbClr val="1B786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18"/>
            <p:cNvSpPr txBox="1"/>
            <p:nvPr/>
          </p:nvSpPr>
          <p:spPr>
            <a:xfrm>
              <a:off x="3899988" y="2158482"/>
              <a:ext cx="1344000" cy="82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61% 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Uninsured Adults</a:t>
              </a:r>
              <a:endParaRPr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2" name="Google Shape;132;p18"/>
          <p:cNvGrpSpPr/>
          <p:nvPr/>
        </p:nvGrpSpPr>
        <p:grpSpPr>
          <a:xfrm>
            <a:off x="2860423" y="1308196"/>
            <a:ext cx="1068600" cy="1068600"/>
            <a:chOff x="2859873" y="853971"/>
            <a:chExt cx="1068600" cy="1068600"/>
          </a:xfrm>
        </p:grpSpPr>
        <p:sp>
          <p:nvSpPr>
            <p:cNvPr id="133" name="Google Shape;133;p18"/>
            <p:cNvSpPr/>
            <p:nvPr/>
          </p:nvSpPr>
          <p:spPr>
            <a:xfrm>
              <a:off x="2859873" y="853971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 txBox="1"/>
            <p:nvPr/>
          </p:nvSpPr>
          <p:spPr>
            <a:xfrm>
              <a:off x="3012800" y="1022197"/>
              <a:ext cx="7626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21.7%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35" name="Google Shape;135;p18"/>
          <p:cNvGrpSpPr/>
          <p:nvPr/>
        </p:nvGrpSpPr>
        <p:grpSpPr>
          <a:xfrm>
            <a:off x="5215126" y="3688625"/>
            <a:ext cx="1187001" cy="1179841"/>
            <a:chOff x="5214448" y="3234278"/>
            <a:chExt cx="1068600" cy="1068600"/>
          </a:xfrm>
        </p:grpSpPr>
        <p:sp>
          <p:nvSpPr>
            <p:cNvPr id="136" name="Google Shape;136;p18"/>
            <p:cNvSpPr/>
            <p:nvPr/>
          </p:nvSpPr>
          <p:spPr>
            <a:xfrm>
              <a:off x="5214448" y="3234278"/>
              <a:ext cx="1068600" cy="1068600"/>
            </a:xfrm>
            <a:prstGeom prst="ellipse">
              <a:avLst/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8"/>
            <p:cNvSpPr txBox="1"/>
            <p:nvPr/>
          </p:nvSpPr>
          <p:spPr>
            <a:xfrm>
              <a:off x="5367375" y="3402503"/>
              <a:ext cx="762600" cy="73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28%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cxnSp>
        <p:nvCxnSpPr>
          <p:cNvPr id="138" name="Google Shape;138;p18"/>
          <p:cNvCxnSpPr/>
          <p:nvPr/>
        </p:nvCxnSpPr>
        <p:spPr>
          <a:xfrm flipH="1" rot="10800000">
            <a:off x="1231775" y="1846000"/>
            <a:ext cx="1671300" cy="3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18"/>
          <p:cNvCxnSpPr/>
          <p:nvPr/>
        </p:nvCxnSpPr>
        <p:spPr>
          <a:xfrm flipH="1">
            <a:off x="6402100" y="4293825"/>
            <a:ext cx="1589700" cy="1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0" name="Google Shape;140;p18"/>
          <p:cNvSpPr txBox="1"/>
          <p:nvPr/>
        </p:nvSpPr>
        <p:spPr>
          <a:xfrm>
            <a:off x="6804700" y="4006475"/>
            <a:ext cx="1187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Financial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1231775" y="1513650"/>
            <a:ext cx="1187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Nonfinancial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type="title"/>
          </p:nvPr>
        </p:nvSpPr>
        <p:spPr>
          <a:xfrm>
            <a:off x="729450" y="6105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 - Employer Burden</a:t>
            </a:r>
            <a:endParaRPr/>
          </a:p>
        </p:txBody>
      </p:sp>
      <p:grpSp>
        <p:nvGrpSpPr>
          <p:cNvPr id="147" name="Google Shape;147;p19"/>
          <p:cNvGrpSpPr/>
          <p:nvPr/>
        </p:nvGrpSpPr>
        <p:grpSpPr>
          <a:xfrm>
            <a:off x="1386909" y="1621323"/>
            <a:ext cx="3112754" cy="1883677"/>
            <a:chOff x="1660800" y="1171213"/>
            <a:chExt cx="1942800" cy="1569600"/>
          </a:xfrm>
        </p:grpSpPr>
        <p:sp>
          <p:nvSpPr>
            <p:cNvPr id="148" name="Google Shape;148;p19"/>
            <p:cNvSpPr/>
            <p:nvPr/>
          </p:nvSpPr>
          <p:spPr>
            <a:xfrm>
              <a:off x="1660800" y="1171213"/>
              <a:ext cx="1942800" cy="1569600"/>
            </a:xfrm>
            <a:prstGeom prst="round1Rect">
              <a:avLst>
                <a:gd fmla="val 17446" name="adj"/>
              </a:avLst>
            </a:prstGeom>
            <a:solidFill>
              <a:srgbClr val="307A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 txBox="1"/>
            <p:nvPr/>
          </p:nvSpPr>
          <p:spPr>
            <a:xfrm>
              <a:off x="1879865" y="1413573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$1.3 trillion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0" name="Google Shape;150;p19"/>
            <p:cNvSpPr txBox="1"/>
            <p:nvPr/>
          </p:nvSpPr>
          <p:spPr>
            <a:xfrm>
              <a:off x="1879868" y="1873469"/>
              <a:ext cx="1451700" cy="51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Projected spend on health benefits in 2024 by U.S. employers.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4499509" y="1641617"/>
            <a:ext cx="3258270" cy="1863272"/>
            <a:chOff x="5539816" y="1171213"/>
            <a:chExt cx="1942800" cy="1569600"/>
          </a:xfrm>
        </p:grpSpPr>
        <p:sp>
          <p:nvSpPr>
            <p:cNvPr id="152" name="Google Shape;152;p19"/>
            <p:cNvSpPr/>
            <p:nvPr/>
          </p:nvSpPr>
          <p:spPr>
            <a:xfrm flipH="1">
              <a:off x="5539816" y="1171213"/>
              <a:ext cx="1942800" cy="1569600"/>
            </a:xfrm>
            <a:prstGeom prst="round1Rect">
              <a:avLst>
                <a:gd fmla="val 17446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9"/>
            <p:cNvSpPr txBox="1"/>
            <p:nvPr/>
          </p:nvSpPr>
          <p:spPr>
            <a:xfrm>
              <a:off x="5762399" y="1413573"/>
              <a:ext cx="1451700" cy="45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$8,435 for coverage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4" name="Google Shape;154;p19"/>
            <p:cNvSpPr txBox="1"/>
            <p:nvPr/>
          </p:nvSpPr>
          <p:spPr>
            <a:xfrm>
              <a:off x="5762397" y="1873540"/>
              <a:ext cx="1451700" cy="69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average annual premium for employer-sponsored health insurance.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5" name="Google Shape;155;p19"/>
          <p:cNvGrpSpPr/>
          <p:nvPr/>
        </p:nvGrpSpPr>
        <p:grpSpPr>
          <a:xfrm>
            <a:off x="1386211" y="3484733"/>
            <a:ext cx="6371452" cy="1498445"/>
            <a:chOff x="1660800" y="2723938"/>
            <a:chExt cx="5822400" cy="1248600"/>
          </a:xfrm>
        </p:grpSpPr>
        <p:sp>
          <p:nvSpPr>
            <p:cNvPr id="156" name="Google Shape;156;p19"/>
            <p:cNvSpPr/>
            <p:nvPr/>
          </p:nvSpPr>
          <p:spPr>
            <a:xfrm rot="10800000">
              <a:off x="1660800" y="2723938"/>
              <a:ext cx="5822400" cy="1248600"/>
            </a:xfrm>
            <a:prstGeom prst="round2SameRect">
              <a:avLst>
                <a:gd fmla="val 18098" name="adj1"/>
                <a:gd fmla="val 0" name="adj2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19"/>
            <p:cNvSpPr txBox="1"/>
            <p:nvPr/>
          </p:nvSpPr>
          <p:spPr>
            <a:xfrm>
              <a:off x="2583300" y="2870009"/>
              <a:ext cx="3977400" cy="34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The Bottom Line</a:t>
              </a:r>
              <a:endParaRPr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58" name="Google Shape;158;p19"/>
            <p:cNvSpPr txBox="1"/>
            <p:nvPr/>
          </p:nvSpPr>
          <p:spPr>
            <a:xfrm>
              <a:off x="2185201" y="3137084"/>
              <a:ext cx="4773600" cy="80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Despite this investment, many employers lack insight into the quality of care purchased, leading to potential overspending on low-quality healthcare services.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0"/>
          <p:cNvSpPr txBox="1"/>
          <p:nvPr>
            <p:ph idx="4294967295" type="title"/>
          </p:nvPr>
        </p:nvSpPr>
        <p:spPr>
          <a:xfrm>
            <a:off x="727650" y="5402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Common Obstacles of Traditional PCPs</a:t>
            </a:r>
            <a:endParaRPr/>
          </a:p>
        </p:txBody>
      </p:sp>
      <p:graphicFrame>
        <p:nvGraphicFramePr>
          <p:cNvPr id="164" name="Google Shape;164;p20"/>
          <p:cNvGraphicFramePr/>
          <p:nvPr/>
        </p:nvGraphicFramePr>
        <p:xfrm>
          <a:off x="952500" y="1704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{61BB0463-651C-4C17-9E3C-C948947C6DE0}</a:tableStyleId>
              </a:tblPr>
              <a:tblGrid>
                <a:gridCol w="1892150"/>
                <a:gridCol w="5346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Obstacle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What Patients/Employers Experience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Limited Access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Long wait times (7–30+ days), short visits (7–12 mins)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Insurance Complexity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Surprise bills, denials, co-pays, paperwork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Fragmented Care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coordination between providers or employer insight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Overworked Providers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Burnout, low availability, high turnover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Low Utilization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Many employees don’t even use their PCP benefits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65" name="Google Shape;165;p20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>
            <p:ph type="title"/>
          </p:nvPr>
        </p:nvSpPr>
        <p:spPr>
          <a:xfrm>
            <a:off x="727800" y="6009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This Problem Demands Attention</a:t>
            </a:r>
            <a:endParaRPr/>
          </a:p>
        </p:txBody>
      </p:sp>
      <p:pic>
        <p:nvPicPr>
          <p:cNvPr descr="Mutating Virus That Causes SARS Covid-19 (Provided by Getty Images)" id="171" name="Google Shape;1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801" y="1792450"/>
            <a:ext cx="3548400" cy="2138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descr="AI Learning and Artificial Intelligence Concept. (Provided by Getty Images)" id="172" name="Google Shape;17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3850" y="1792450"/>
            <a:ext cx="3548400" cy="21381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3" name="Google Shape;173;p21"/>
          <p:cNvSpPr txBox="1"/>
          <p:nvPr/>
        </p:nvSpPr>
        <p:spPr>
          <a:xfrm>
            <a:off x="992376" y="4253125"/>
            <a:ext cx="3019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Looking at the past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4938425" y="4217025"/>
            <a:ext cx="30192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Lato"/>
                <a:ea typeface="Lato"/>
                <a:cs typeface="Lato"/>
                <a:sym typeface="Lato"/>
              </a:rPr>
              <a:t>Looking into the future</a:t>
            </a:r>
            <a:endParaRPr b="1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</a:t>
            </a:r>
            <a:endParaRPr/>
          </a:p>
        </p:txBody>
      </p:sp>
      <p:pic>
        <p:nvPicPr>
          <p:cNvPr id="180" name="Google Shape;180;p22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4739776" y="3289625"/>
            <a:ext cx="3871949" cy="1165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octor team taking care of senior adult man patient lying on bed in hospital ward. Medical healthcare staff service treatment concept. (Provided by Getty Images)" id="185" name="Google Shape;18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875" y="2046423"/>
            <a:ext cx="4176600" cy="25218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Prefabricated container houses in building under construction (Provided by Getty Images)" id="186" name="Google Shape;18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738525" y="2078468"/>
            <a:ext cx="4176600" cy="2457600"/>
          </a:xfrm>
          <a:prstGeom prst="snip1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id="187" name="Google Shape;187;p23" title="ChatGPT Image Apr 21, 2025, 10_28_47 AM.png"/>
          <p:cNvPicPr preferRelativeResize="0"/>
          <p:nvPr/>
        </p:nvPicPr>
        <p:blipFill rotWithShape="1">
          <a:blip r:embed="rId5">
            <a:alphaModFix/>
          </a:blip>
          <a:srcRect b="35761" l="3826" r="68662" t="34139"/>
          <a:stretch/>
        </p:blipFill>
        <p:spPr>
          <a:xfrm>
            <a:off x="3595475" y="1111675"/>
            <a:ext cx="1953050" cy="1935759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3"/>
          <p:cNvSpPr txBox="1"/>
          <p:nvPr>
            <p:ph type="title"/>
          </p:nvPr>
        </p:nvSpPr>
        <p:spPr>
          <a:xfrm>
            <a:off x="727800" y="576475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 Specific Direct Primary Care (DPC) Model</a:t>
            </a:r>
            <a:endParaRPr/>
          </a:p>
        </p:txBody>
      </p:sp>
      <p:sp>
        <p:nvSpPr>
          <p:cNvPr id="189" name="Google Shape;189;p23"/>
          <p:cNvSpPr txBox="1"/>
          <p:nvPr/>
        </p:nvSpPr>
        <p:spPr>
          <a:xfrm>
            <a:off x="807575" y="4640945"/>
            <a:ext cx="3019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Onsite Care Teams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5317225" y="4640945"/>
            <a:ext cx="3019200" cy="2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Modular Clinics</a:t>
            </a:r>
            <a:endParaRPr b="1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4"/>
          <p:cNvSpPr txBox="1"/>
          <p:nvPr>
            <p:ph idx="4294967295" type="title"/>
          </p:nvPr>
        </p:nvSpPr>
        <p:spPr>
          <a:xfrm>
            <a:off x="553050" y="5095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a DPC model differ?</a:t>
            </a:r>
            <a:endParaRPr/>
          </a:p>
        </p:txBody>
      </p:sp>
      <p:graphicFrame>
        <p:nvGraphicFramePr>
          <p:cNvPr id="196" name="Google Shape;196;p24"/>
          <p:cNvGraphicFramePr/>
          <p:nvPr/>
        </p:nvGraphicFramePr>
        <p:xfrm>
          <a:off x="659513" y="1218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{61BB0463-651C-4C17-9E3C-C948947C6DE0}</a:tableStyleId>
              </a:tblPr>
              <a:tblGrid>
                <a:gridCol w="2103225"/>
                <a:gridCol w="5721725"/>
              </a:tblGrid>
              <a:tr h="346800"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Traditional PCP 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ThriveClinic Solution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62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Wait times (avg. 19 days)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Same-day / next-day visits at work</a:t>
                      </a:r>
                      <a:endParaRPr sz="1100"/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Short appointments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30–45 minute visits = deeper care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Billing stress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Flat-fee, no co-pays, no surprise bills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Limited hours / access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Modular, onsite, AND virtual care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No employer insight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Real-time employer dashboards (aggregated + de-identified)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Burnout-prone model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Smaller patient panels (max ~350), no billing admin for providers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57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Underused benefits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Proactive outreach, wellness integration, high trust via access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7" name="Google Shape;197;p24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5"/>
          <p:cNvSpPr txBox="1"/>
          <p:nvPr>
            <p:ph type="title"/>
          </p:nvPr>
        </p:nvSpPr>
        <p:spPr>
          <a:xfrm>
            <a:off x="727800" y="576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ThriveClinic brings Value</a:t>
            </a: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1288951" y="1111648"/>
            <a:ext cx="3282908" cy="3195680"/>
            <a:chOff x="2744034" y="1146343"/>
            <a:chExt cx="1827900" cy="2399700"/>
          </a:xfrm>
        </p:grpSpPr>
        <p:sp>
          <p:nvSpPr>
            <p:cNvPr id="204" name="Google Shape;204;p25"/>
            <p:cNvSpPr/>
            <p:nvPr/>
          </p:nvSpPr>
          <p:spPr>
            <a:xfrm rot="-5400000">
              <a:off x="2458134" y="1432243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83E3D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5"/>
            <p:cNvSpPr/>
            <p:nvPr/>
          </p:nvSpPr>
          <p:spPr>
            <a:xfrm flipH="1">
              <a:off x="2832600" y="1686400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5"/>
            <p:cNvSpPr txBox="1"/>
            <p:nvPr/>
          </p:nvSpPr>
          <p:spPr>
            <a:xfrm>
              <a:off x="2832605" y="1686406"/>
              <a:ext cx="1649400" cy="17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Employees = Higher Satisfaction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Fast, reliable access to high-quality primary care—on-site, near-site, or virtual—without the wait times or financial barriers typical of traditional healthcare. 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Services are aligned with work demands and shift schedules, ensuring care is convenient, relevant, and impactful.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207" name="Google Shape;207;p25"/>
          <p:cNvGrpSpPr/>
          <p:nvPr/>
        </p:nvGrpSpPr>
        <p:grpSpPr>
          <a:xfrm>
            <a:off x="4572128" y="1712412"/>
            <a:ext cx="3282908" cy="3195680"/>
            <a:chOff x="4572084" y="1597469"/>
            <a:chExt cx="1827900" cy="2399700"/>
          </a:xfrm>
        </p:grpSpPr>
        <p:sp>
          <p:nvSpPr>
            <p:cNvPr id="208" name="Google Shape;208;p25"/>
            <p:cNvSpPr/>
            <p:nvPr/>
          </p:nvSpPr>
          <p:spPr>
            <a:xfrm rot="5400000">
              <a:off x="4286184" y="1883369"/>
              <a:ext cx="2399700" cy="1827900"/>
            </a:xfrm>
            <a:prstGeom prst="rightArrowCallout">
              <a:avLst>
                <a:gd fmla="val 9283" name="adj1"/>
                <a:gd fmla="val 13570" name="adj2"/>
                <a:gd fmla="val 16082" name="adj3"/>
                <a:gd fmla="val 81236" name="adj4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25"/>
            <p:cNvSpPr/>
            <p:nvPr/>
          </p:nvSpPr>
          <p:spPr>
            <a:xfrm flipH="1" rot="10800000">
              <a:off x="4662018" y="1687411"/>
              <a:ext cx="1649400" cy="1769700"/>
            </a:xfrm>
            <a:prstGeom prst="snip1Rect">
              <a:avLst>
                <a:gd fmla="val 0" name="adj"/>
              </a:avLst>
            </a:prstGeom>
            <a:solidFill>
              <a:srgbClr val="1B786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" name="Google Shape;210;p25"/>
            <p:cNvSpPr txBox="1"/>
            <p:nvPr/>
          </p:nvSpPr>
          <p:spPr>
            <a:xfrm>
              <a:off x="4662018" y="1687419"/>
              <a:ext cx="1649400" cy="176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For Employers = Lower Cost</a:t>
              </a:r>
              <a:endParaRPr b="1" sz="11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 predictable, cost-effective healthcare solution that improves workforce health, reduces absenteeism, and delivers measurable ROI. 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  <a:p>
              <a:pPr indent="0" lvl="0" marL="0" rtl="0" algn="ctr">
                <a:lnSpc>
                  <a:spcPct val="115000"/>
                </a:lnSpc>
                <a:spcBef>
                  <a:spcPts val="1600"/>
                </a:spcBef>
                <a:spcAft>
                  <a:spcPts val="1600"/>
                </a:spcAft>
                <a:buNone/>
              </a:pPr>
              <a:r>
                <a:rPr lang="en" sz="12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Tailored specifically to the needs of essential industries like manufacturing, logistics, and public service.</a:t>
              </a:r>
              <a:endParaRPr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1" name="Google Shape;211;p25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6" name="Google Shape;216;p26"/>
          <p:cNvGraphicFramePr/>
          <p:nvPr/>
        </p:nvGraphicFramePr>
        <p:xfrm>
          <a:off x="-8400275" y="1636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{61BB0463-651C-4C17-9E3C-C948947C6DE0}</a:tableStyleId>
              </a:tblPr>
              <a:tblGrid>
                <a:gridCol w="1503675"/>
                <a:gridCol w="1483175"/>
                <a:gridCol w="1042500"/>
                <a:gridCol w="1206500"/>
                <a:gridCol w="1206500"/>
                <a:gridCol w="1206500"/>
              </a:tblGrid>
              <a:tr h="823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Company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Model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Insurance-Free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Modular Clinics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Data ROI</a:t>
                      </a:r>
                      <a:endParaRPr b="1"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DEI Lens</a:t>
                      </a:r>
                      <a:endParaRPr b="1" sz="1200"/>
                    </a:p>
                  </a:txBody>
                  <a:tcPr marT="91425" marB="91425" marR="91425" marL="91425" anchor="ctr"/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OneMedical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Fee-for-service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Limited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Limited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Crossover Health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Employer-based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Partial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Medium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6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Forward Health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Tech-focused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No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Limited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  <a:tr h="35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ThriveClinic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Onsite DPC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Yes</a:t>
                      </a:r>
                      <a:endParaRPr sz="12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Strong</a:t>
                      </a:r>
                      <a:endParaRPr sz="12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sp>
        <p:nvSpPr>
          <p:cNvPr id="217" name="Google Shape;217;p26"/>
          <p:cNvSpPr txBox="1"/>
          <p:nvPr>
            <p:ph type="title"/>
          </p:nvPr>
        </p:nvSpPr>
        <p:spPr>
          <a:xfrm>
            <a:off x="727800" y="576450"/>
            <a:ext cx="38442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Competitive Landscape</a:t>
            </a:r>
            <a:endParaRPr/>
          </a:p>
        </p:txBody>
      </p:sp>
      <p:pic>
        <p:nvPicPr>
          <p:cNvPr id="218" name="Google Shape;218;p26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2500" y="1622622"/>
            <a:ext cx="748550" cy="67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8900" y="1520346"/>
            <a:ext cx="883725" cy="88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04275" y="1587934"/>
            <a:ext cx="748550" cy="74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6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3826" r="68662" t="34139"/>
          <a:stretch/>
        </p:blipFill>
        <p:spPr>
          <a:xfrm>
            <a:off x="2830925" y="1478413"/>
            <a:ext cx="883725" cy="96759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23" name="Google Shape;223;p26"/>
          <p:cNvGraphicFramePr/>
          <p:nvPr/>
        </p:nvGraphicFramePr>
        <p:xfrm>
          <a:off x="1050900" y="2618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{61BB0463-651C-4C17-9E3C-C948947C6DE0}</a:tableStyleId>
              </a:tblPr>
              <a:tblGrid>
                <a:gridCol w="1691225"/>
                <a:gridCol w="1188700"/>
                <a:gridCol w="1375750"/>
                <a:gridCol w="1375750"/>
                <a:gridCol w="1375750"/>
              </a:tblGrid>
              <a:tr h="4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Insurance Free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0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Modular Clinics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Data ROI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accent3"/>
                          </a:solidFill>
                        </a:rPr>
                        <a:t>Limited</a:t>
                      </a:r>
                      <a:endParaRPr b="1" sz="1200">
                        <a:solidFill>
                          <a:schemeClr val="accent3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56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Industry Specific</a:t>
                      </a:r>
                      <a:endParaRPr sz="12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Yes</a:t>
                      </a:r>
                      <a:endParaRPr b="1"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0000"/>
                          </a:solidFill>
                        </a:rPr>
                        <a:t>No</a:t>
                      </a:r>
                      <a:endParaRPr b="1" sz="1200"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24" name="Google Shape;224;p26"/>
          <p:cNvCxnSpPr/>
          <p:nvPr/>
        </p:nvCxnSpPr>
        <p:spPr>
          <a:xfrm flipH="1">
            <a:off x="3927950" y="1487825"/>
            <a:ext cx="17100" cy="28479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26"/>
          <p:cNvCxnSpPr/>
          <p:nvPr/>
        </p:nvCxnSpPr>
        <p:spPr>
          <a:xfrm flipH="1">
            <a:off x="5306425" y="1487825"/>
            <a:ext cx="17100" cy="28479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26"/>
          <p:cNvCxnSpPr/>
          <p:nvPr/>
        </p:nvCxnSpPr>
        <p:spPr>
          <a:xfrm flipH="1">
            <a:off x="6684900" y="1463000"/>
            <a:ext cx="17100" cy="28479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>
            <p:ph type="title"/>
          </p:nvPr>
        </p:nvSpPr>
        <p:spPr>
          <a:xfrm>
            <a:off x="727650" y="5487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Path to Profitability</a:t>
            </a:r>
            <a:endParaRPr/>
          </a:p>
        </p:txBody>
      </p:sp>
      <p:pic>
        <p:nvPicPr>
          <p:cNvPr id="232" name="Google Shape;232;p2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7650" y="1306075"/>
            <a:ext cx="5934726" cy="3754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7" title="ChatGPT Image Apr 21, 2025, 10_28_47 AM.png"/>
          <p:cNvPicPr preferRelativeResize="0"/>
          <p:nvPr/>
        </p:nvPicPr>
        <p:blipFill rotWithShape="1">
          <a:blip r:embed="rId4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727650" y="589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1 Projections</a:t>
            </a:r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727650" y="1441200"/>
            <a:ext cx="3844500" cy="289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10  employer contracts @ 125 employees each</a:t>
            </a:r>
            <a:endParaRPr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Yearly revenue: 10  x 125  x $80  x 12 = $1,200,000 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$70,000 Operating Income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40" name="Google Shape;240;p28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usiness series - company, teamwork and collaboration web template (Provided by Getty Images)" id="241" name="Google Shape;24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8349" y="1441200"/>
            <a:ext cx="3745377" cy="27047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9"/>
          <p:cNvSpPr txBox="1"/>
          <p:nvPr>
            <p:ph type="title"/>
          </p:nvPr>
        </p:nvSpPr>
        <p:spPr>
          <a:xfrm>
            <a:off x="727800" y="5764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Offerings and Costs Break Down</a:t>
            </a:r>
            <a:endParaRPr/>
          </a:p>
        </p:txBody>
      </p:sp>
      <p:pic>
        <p:nvPicPr>
          <p:cNvPr id="247" name="Google Shape;247;p29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8" name="Google Shape;248;p29"/>
          <p:cNvGraphicFramePr/>
          <p:nvPr/>
        </p:nvGraphicFramePr>
        <p:xfrm>
          <a:off x="181738" y="1422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{1DE7CF8B-2D87-43A8-876A-01B18470B408}</a:tableStyleId>
              </a:tblPr>
              <a:tblGrid>
                <a:gridCol w="3419225"/>
                <a:gridCol w="2113225"/>
                <a:gridCol w="3248075"/>
              </a:tblGrid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Annual Revenue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$    1,200,000.00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Cost of Care Team &amp; Staffing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$                                    700,000.00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Clinic Infrastructure &amp; Mobile Units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$                                    250,000.00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Tech Platform &amp; EMR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$                                    120,000.00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Outreach, Onboarding, Education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$                                       60,000.00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Total Expenses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 $ (1,130,000.00)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2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Operating Income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 $       	70,000.00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type="title"/>
          </p:nvPr>
        </p:nvSpPr>
        <p:spPr>
          <a:xfrm>
            <a:off x="590850" y="5640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Staffing Breakdown Cost Per Year</a:t>
            </a:r>
            <a:endParaRPr/>
          </a:p>
        </p:txBody>
      </p:sp>
      <p:graphicFrame>
        <p:nvGraphicFramePr>
          <p:cNvPr id="254" name="Google Shape;254;p30"/>
          <p:cNvGraphicFramePr/>
          <p:nvPr/>
        </p:nvGraphicFramePr>
        <p:xfrm>
          <a:off x="681775" y="169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{1DE7CF8B-2D87-43A8-876A-01B18470B408}</a:tableStyleId>
              </a:tblPr>
              <a:tblGrid>
                <a:gridCol w="2783250"/>
                <a:gridCol w="948825"/>
                <a:gridCol w="2530225"/>
                <a:gridCol w="151815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Role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Count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Estimated Salary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Total Cost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Nurse Practitioners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$120,000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$240,000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Physician Assistants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$130,000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$130,000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Medical Assistants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2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$60,000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$120,000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Care Coordinators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1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$70,000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$70,000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Subtotal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$560,000*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5" name="Google Shape;255;p30"/>
          <p:cNvSpPr txBox="1"/>
          <p:nvPr/>
        </p:nvSpPr>
        <p:spPr>
          <a:xfrm>
            <a:off x="4912700" y="4395075"/>
            <a:ext cx="40038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/>
              <a:t>*Overhead (25% of $560,000)</a:t>
            </a:r>
            <a:r>
              <a:rPr lang="en" sz="1100"/>
              <a:t> = $140,000 (700,000)</a:t>
            </a:r>
            <a:endParaRPr sz="1300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1"/>
          <p:cNvSpPr txBox="1"/>
          <p:nvPr>
            <p:ph type="title"/>
          </p:nvPr>
        </p:nvSpPr>
        <p:spPr>
          <a:xfrm>
            <a:off x="821875" y="6256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Clinic Breakdown Cost Per Year</a:t>
            </a:r>
            <a:endParaRPr/>
          </a:p>
        </p:txBody>
      </p:sp>
      <p:graphicFrame>
        <p:nvGraphicFramePr>
          <p:cNvPr id="261" name="Google Shape;261;p31"/>
          <p:cNvGraphicFramePr/>
          <p:nvPr/>
        </p:nvGraphicFramePr>
        <p:xfrm>
          <a:off x="727600" y="1384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{1DE7CF8B-2D87-43A8-876A-01B18470B408}</a:tableStyleId>
              </a:tblPr>
              <a:tblGrid>
                <a:gridCol w="2081800"/>
                <a:gridCol w="915625"/>
                <a:gridCol w="4785550"/>
              </a:tblGrid>
              <a:tr h="5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Mobile Clinic Units (2 units)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$160,000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$80,000 each for converted mobile health vans with exam rooms, HVAC, ADA access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Medical Equipment &amp; Furnishings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$40,000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Exam tables, diagnostic equipment, refrigeration (for vaccines/labs), supplies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Initial Build-Out &amp; Customization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$25,000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Plumbing, interior layout, branding, telehealth setup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Licensing, Permits, Inspections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Local/state health permits, fire safety, vehicle licensing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6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Logistics &amp; Setup Costs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$15,000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Delivery, setup, utility hookups, signage, storage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8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300"/>
                        <a:t>Contingency Reserve (5–10%)</a:t>
                      </a:r>
                      <a:endParaRPr b="1"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$10,000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00"/>
                        <a:t>To accommodate scope creep or rising material costs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727650" y="5898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2 Projections</a:t>
            </a:r>
            <a:endParaRPr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677400" y="1441200"/>
            <a:ext cx="38946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50 contracts (~12,500 employees)</a:t>
            </a:r>
            <a:endParaRPr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Expansion into mental health, and reporting tools ($100 per employer)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Annual revenue: $12M–$15M 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68" name="Google Shape;268;p32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416175"/>
            <a:ext cx="2256499" cy="679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ental health and psychotherapy for person with anxiety disorder, rain clouds over head (Provided by Getty Images)" id="269" name="Google Shape;269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5300" y="1277425"/>
            <a:ext cx="2986353" cy="29863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33"/>
          <p:cNvSpPr txBox="1"/>
          <p:nvPr>
            <p:ph type="title"/>
          </p:nvPr>
        </p:nvSpPr>
        <p:spPr>
          <a:xfrm>
            <a:off x="727650" y="60022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 5 Projections</a:t>
            </a:r>
            <a:endParaRPr/>
          </a:p>
        </p:txBody>
      </p:sp>
      <p:sp>
        <p:nvSpPr>
          <p:cNvPr id="275" name="Google Shape;275;p33"/>
          <p:cNvSpPr txBox="1"/>
          <p:nvPr>
            <p:ph idx="1" type="body"/>
          </p:nvPr>
        </p:nvSpPr>
        <p:spPr>
          <a:xfrm>
            <a:off x="727650" y="1441200"/>
            <a:ext cx="3844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Multi-year city and school district deals (increased predictability)</a:t>
            </a:r>
            <a:endParaRPr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Optional SaaS-style reporting products (increased profitability)</a:t>
            </a:r>
            <a:endParaRPr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Scaled to other industrial hubs (increased scale)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76" name="Google Shape;276;p33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ram school on the 1st floor of an isometric apartment (Provided by Getty Images)" id="277" name="Google Shape;2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1250" y="1287825"/>
            <a:ext cx="3760348" cy="2660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4"/>
          <p:cNvSpPr txBox="1"/>
          <p:nvPr>
            <p:ph type="title"/>
          </p:nvPr>
        </p:nvSpPr>
        <p:spPr>
          <a:xfrm>
            <a:off x="727650" y="56900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Growth Strategy</a:t>
            </a:r>
            <a:endParaRPr/>
          </a:p>
        </p:txBody>
      </p:sp>
      <p:sp>
        <p:nvSpPr>
          <p:cNvPr id="283" name="Google Shape;283;p34"/>
          <p:cNvSpPr txBox="1"/>
          <p:nvPr>
            <p:ph idx="1" type="body"/>
          </p:nvPr>
        </p:nvSpPr>
        <p:spPr>
          <a:xfrm>
            <a:off x="727650" y="1441200"/>
            <a:ext cx="38445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Integrate behavioral health and occupational therapy by Y3</a:t>
            </a:r>
            <a:endParaRPr sz="16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Launch AI-driven member app for personalized prevention plans</a:t>
            </a:r>
            <a:endParaRPr sz="16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</a:rPr>
              <a:t>Expand to other industries after Y5</a:t>
            </a:r>
            <a:endParaRPr sz="1600">
              <a:solidFill>
                <a:srgbClr val="000000"/>
              </a:solidFill>
            </a:endParaRPr>
          </a:p>
        </p:txBody>
      </p:sp>
      <p:pic>
        <p:nvPicPr>
          <p:cNvPr id="284" name="Google Shape;284;p34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harmaceutical Medical Drugs Producing at Factory. Tiny Pharmacist Characters at Huge Production Line Conveyor Belt (Provided by Getty Images)" id="285" name="Google Shape;285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7303" y="1441075"/>
            <a:ext cx="3792471" cy="252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5"/>
          <p:cNvSpPr txBox="1"/>
          <p:nvPr>
            <p:ph type="title"/>
          </p:nvPr>
        </p:nvSpPr>
        <p:spPr>
          <a:xfrm>
            <a:off x="727650" y="6061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to Action</a:t>
            </a:r>
            <a:endParaRPr/>
          </a:p>
        </p:txBody>
      </p:sp>
      <p:sp>
        <p:nvSpPr>
          <p:cNvPr id="291" name="Google Shape;291;p35"/>
          <p:cNvSpPr txBox="1"/>
          <p:nvPr>
            <p:ph idx="1" type="body"/>
          </p:nvPr>
        </p:nvSpPr>
        <p:spPr>
          <a:xfrm>
            <a:off x="729450" y="2067125"/>
            <a:ext cx="7688700" cy="170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ThriveClinic is how we make work healthier—together.</a:t>
            </a:r>
            <a:b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Join me in transforming how America’s essential workers receive care.</a:t>
            </a:r>
            <a:b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Invest | Refer | Partner</a:t>
            </a:r>
            <a:endParaRPr sz="1900"/>
          </a:p>
        </p:txBody>
      </p:sp>
      <p:pic>
        <p:nvPicPr>
          <p:cNvPr id="292" name="Google Shape;292;p35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&amp; Class Resources</a:t>
            </a:r>
            <a:endParaRPr/>
          </a:p>
        </p:txBody>
      </p:sp>
      <p:sp>
        <p:nvSpPr>
          <p:cNvPr id="298" name="Google Shape;298;p3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Business Model Generation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Canvas model structuring and iteration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Real Value of Design (McKinsey)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Design-led orgs double ROI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Scenario Planning (Shell)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Future-proofing through adaptive pathways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Living in the Futures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Health as a continuous, contextualized ecosystem</a:t>
            </a:r>
            <a:endParaRPr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●"/>
            </a:pPr>
            <a:r>
              <a:rPr i="1"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Economics of Healthcare</a:t>
            </a:r>
            <a:r>
              <a:rPr lang="en" sz="17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Flawed incentives in reactive fee-for-service models</a:t>
            </a:r>
            <a:endParaRPr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7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Traditional PCPs are stuck in a fee-for-service model: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>
            <p:ph idx="1" type="body"/>
          </p:nvPr>
        </p:nvSpPr>
        <p:spPr>
          <a:xfrm>
            <a:off x="729450" y="21647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PCPs Are Built for Volume—Not Value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paid per visit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Incentivized to see more patients in less time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admin than care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~50% of time spent on charting/billing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to “what insurance will cover”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→ not true prevention or education</a:t>
            </a:r>
            <a:endParaRPr/>
          </a:p>
        </p:txBody>
      </p:sp>
      <p:sp>
        <p:nvSpPr>
          <p:cNvPr id="305" name="Google Shape;305;p37"/>
          <p:cNvSpPr txBox="1"/>
          <p:nvPr>
            <p:ph idx="2" type="body"/>
          </p:nvPr>
        </p:nvSpPr>
        <p:spPr>
          <a:xfrm>
            <a:off x="464355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ThriveClinic is Designed for Value-Based Care:</a:t>
            </a:r>
            <a:endParaRPr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insurance = no “minimum billing code” care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 team is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paid to build health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not process volume</a:t>
            </a:r>
            <a:b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Supports </a:t>
            </a:r>
            <a:r>
              <a:rPr b="1"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employers’ goals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productivity, retention, health equity</a:t>
            </a:r>
            <a:endParaRPr/>
          </a:p>
        </p:txBody>
      </p:sp>
      <p:pic>
        <p:nvPicPr>
          <p:cNvPr id="306" name="Google Shape;306;p37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8"/>
          <p:cNvSpPr txBox="1"/>
          <p:nvPr>
            <p:ph type="title"/>
          </p:nvPr>
        </p:nvSpPr>
        <p:spPr>
          <a:xfrm>
            <a:off x="727650" y="639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Target Market</a:t>
            </a:r>
            <a:endParaRPr/>
          </a:p>
        </p:txBody>
      </p:sp>
      <p:sp>
        <p:nvSpPr>
          <p:cNvPr id="312" name="Google Shape;312;p38"/>
          <p:cNvSpPr txBox="1"/>
          <p:nvPr>
            <p:ph idx="1" type="body"/>
          </p:nvPr>
        </p:nvSpPr>
        <p:spPr>
          <a:xfrm>
            <a:off x="727650" y="1437600"/>
            <a:ext cx="7688700" cy="32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Mid-sized employers (50–500 employees)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employers often struggle with rising premiums and absenteeism but lack the scale for in-house health services.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School districts and municipalities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These are ideal partners due to fixed budgets, a focus on public well-being, and predictable workforce sizes.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Industries with high physical/mental strain</a:t>
            </a:r>
            <a:b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Such as education, manufacturing, logistics, or public service—where absenteeism, burnout, and underutilized PCP benefits are common.</a:t>
            </a:r>
            <a:endParaRPr sz="1800"/>
          </a:p>
        </p:txBody>
      </p:sp>
      <p:pic>
        <p:nvPicPr>
          <p:cNvPr id="313" name="Google Shape;313;p38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633250" y="4393550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Value Proposition</a:t>
            </a:r>
            <a:endParaRPr/>
          </a:p>
        </p:txBody>
      </p:sp>
      <p:sp>
        <p:nvSpPr>
          <p:cNvPr id="319" name="Google Shape;319;p39"/>
          <p:cNvSpPr txBox="1"/>
          <p:nvPr>
            <p:ph idx="1" type="body"/>
          </p:nvPr>
        </p:nvSpPr>
        <p:spPr>
          <a:xfrm>
            <a:off x="729450" y="1996925"/>
            <a:ext cx="7688700" cy="31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Jobs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Lower healthcare costs, retain talent, reduce absenteeism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Pains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Rising premiums, poor employee health metrics, insurance complexity</a:t>
            </a:r>
            <a:b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Gains</a:t>
            </a: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Predictable spending, healthier workforce, streamlined employee benefits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ThriveClinic Provides:</a:t>
            </a:r>
            <a:endParaRPr b="1"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Accessible care without billing friction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In-house visibility into workforce health trends</a:t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recruiting and retention differentiator</a:t>
            </a:r>
            <a:endParaRPr sz="1600"/>
          </a:p>
        </p:txBody>
      </p:sp>
      <p:pic>
        <p:nvPicPr>
          <p:cNvPr id="320" name="Google Shape;320;p39" title="ChatGPT Image Apr 21, 2025, 10_28_47 AM.png"/>
          <p:cNvPicPr preferRelativeResize="0"/>
          <p:nvPr/>
        </p:nvPicPr>
        <p:blipFill rotWithShape="1">
          <a:blip r:embed="rId3">
            <a:alphaModFix/>
          </a:blip>
          <a:srcRect b="35761" l="0" r="0" t="34139"/>
          <a:stretch/>
        </p:blipFill>
        <p:spPr>
          <a:xfrm>
            <a:off x="6543275" y="4339975"/>
            <a:ext cx="2256499" cy="679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0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Model Canvas Highlights</a:t>
            </a:r>
            <a:endParaRPr/>
          </a:p>
        </p:txBody>
      </p:sp>
      <p:sp>
        <p:nvSpPr>
          <p:cNvPr id="326" name="Google Shape;326;p40"/>
          <p:cNvSpPr txBox="1"/>
          <p:nvPr>
            <p:ph idx="1" type="body"/>
          </p:nvPr>
        </p:nvSpPr>
        <p:spPr>
          <a:xfrm>
            <a:off x="729325" y="2078875"/>
            <a:ext cx="3774300" cy="28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Segments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Mid-size employers (50–500), school districts, municipalities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 Proposition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Modular, subscription-based primary care with no insurance markup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Channels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Direct outreach to HR leaders, school boards, municipalities; regional employer roundtables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 Relationships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Dedicated client managers, biannual health impact reports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Revenue Streams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Monthly per-employee fees ($70–$90); add-ons for wellness, labs, and diagnostics</a:t>
            </a:r>
            <a:endParaRPr sz="1500"/>
          </a:p>
        </p:txBody>
      </p:sp>
      <p:sp>
        <p:nvSpPr>
          <p:cNvPr id="327" name="Google Shape;327;p40"/>
          <p:cNvSpPr txBox="1"/>
          <p:nvPr>
            <p:ph idx="2" type="body"/>
          </p:nvPr>
        </p:nvSpPr>
        <p:spPr>
          <a:xfrm>
            <a:off x="4643600" y="2078875"/>
            <a:ext cx="3774300" cy="285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Resources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NP/PA care teams, mobile clinic units, EMR platform, employer onboarding playbook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Activities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Clinic set-up, ongoing care delivery, employer engagement, data reporting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Partners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Local labs, fitness centers, mental health providers, occupational health orgs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Cost Structure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Staffing, clinic infrastructure, tech platform, outreach/education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